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322" r:id="rId5"/>
    <p:sldId id="321" r:id="rId6"/>
    <p:sldId id="323" r:id="rId7"/>
    <p:sldId id="324" r:id="rId8"/>
    <p:sldId id="325" r:id="rId9"/>
    <p:sldId id="32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105" d="100"/>
          <a:sy n="105" d="100"/>
        </p:scale>
        <p:origin x="132" y="11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7/14/2026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7/14/2026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GB"/>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GB"/>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GB"/>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GB"/>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GB"/>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317615" y="690511"/>
            <a:ext cx="6354201" cy="5253089"/>
          </a:xfrm>
        </p:spPr>
        <p:txBody>
          <a:bodyPr/>
          <a:lstStyle/>
          <a:p>
            <a:r>
              <a:rPr lang="en-US" dirty="0"/>
              <a:t>Units 3-5 </a:t>
            </a:r>
            <a:br>
              <a:rPr lang="en-US" dirty="0"/>
            </a:br>
            <a:r>
              <a:rPr lang="en-US" dirty="0"/>
              <a:t>Design Patterns</a:t>
            </a:r>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a:lstStyle/>
          <a:p>
            <a:r>
              <a:rPr lang="en-US" dirty="0"/>
              <a:t>Design Patterns</a:t>
            </a:r>
          </a:p>
        </p:txBody>
      </p:sp>
      <p:sp>
        <p:nvSpPr>
          <p:cNvPr id="3" name="Content Placeholder 2">
            <a:extLst>
              <a:ext uri="{FF2B5EF4-FFF2-40B4-BE49-F238E27FC236}">
                <a16:creationId xmlns:a16="http://schemas.microsoft.com/office/drawing/2014/main" id="{02BA04E6-CD61-B962-4287-DEC1993C32D6}"/>
              </a:ext>
            </a:extLst>
          </p:cNvPr>
          <p:cNvSpPr>
            <a:spLocks noGrp="1"/>
          </p:cNvSpPr>
          <p:nvPr>
            <p:ph sz="quarter" idx="12"/>
          </p:nvPr>
        </p:nvSpPr>
        <p:spPr>
          <a:xfrm>
            <a:off x="6388461" y="737115"/>
            <a:ext cx="4449712" cy="5407091"/>
          </a:xfrm>
        </p:spPr>
        <p:txBody>
          <a:bodyPr/>
          <a:lstStyle/>
          <a:p>
            <a:r>
              <a:rPr lang="en-GB" b="1" dirty="0"/>
              <a:t>Creational Patterns</a:t>
            </a:r>
          </a:p>
          <a:p>
            <a:r>
              <a:rPr lang="en-GB" b="1" dirty="0"/>
              <a:t>Structural Patterns</a:t>
            </a:r>
          </a:p>
          <a:p>
            <a:r>
              <a:rPr lang="en-GB" b="1" dirty="0"/>
              <a:t>Behavioural Patterns</a:t>
            </a:r>
          </a:p>
        </p:txBody>
      </p:sp>
      <p:sp>
        <p:nvSpPr>
          <p:cNvPr id="4" name="Slide Number Placeholder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a:lstStyle/>
          <a:p>
            <a:fld id="{18D65601-5AE2-46FC-B138-694DDD2B510D}" type="slidenum">
              <a:rPr lang="en-US" smtClean="0"/>
              <a:pPr/>
              <a:t>2</a:t>
            </a:fld>
            <a:endParaRPr lang="en-US" dirty="0"/>
          </a:p>
        </p:txBody>
      </p:sp>
    </p:spTree>
    <p:extLst>
      <p:ext uri="{BB962C8B-B14F-4D97-AF65-F5344CB8AC3E}">
        <p14:creationId xmlns:p14="http://schemas.microsoft.com/office/powerpoint/2010/main" val="1607455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D6AE-ED72-956C-0E1C-41FCFAD59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B9D07-1F33-0ADF-2905-196B93C6DACF}"/>
              </a:ext>
            </a:extLst>
          </p:cNvPr>
          <p:cNvSpPr>
            <a:spLocks noGrp="1"/>
          </p:cNvSpPr>
          <p:nvPr>
            <p:ph type="title"/>
          </p:nvPr>
        </p:nvSpPr>
        <p:spPr>
          <a:xfrm>
            <a:off x="1481167" y="266109"/>
            <a:ext cx="9229665" cy="611716"/>
          </a:xfrm>
        </p:spPr>
        <p:txBody>
          <a:bodyPr/>
          <a:lstStyle/>
          <a:p>
            <a:r>
              <a:rPr lang="en-GB" dirty="0"/>
              <a:t>Creational Patterns</a:t>
            </a:r>
          </a:p>
        </p:txBody>
      </p:sp>
      <p:sp>
        <p:nvSpPr>
          <p:cNvPr id="4" name="Slide Number Placeholder 3">
            <a:extLst>
              <a:ext uri="{FF2B5EF4-FFF2-40B4-BE49-F238E27FC236}">
                <a16:creationId xmlns:a16="http://schemas.microsoft.com/office/drawing/2014/main" id="{E6272D0D-57FE-E5E3-5662-98E5BCE24C5B}"/>
              </a:ext>
            </a:extLst>
          </p:cNvPr>
          <p:cNvSpPr>
            <a:spLocks noGrp="1"/>
          </p:cNvSpPr>
          <p:nvPr>
            <p:ph type="sldNum" sz="quarter" idx="15"/>
          </p:nvPr>
        </p:nvSpPr>
        <p:spPr/>
        <p:txBody>
          <a:bodyPr/>
          <a:lstStyle/>
          <a:p>
            <a:fld id="{18D65601-5AE2-46FC-B138-694DDD2B510D}" type="slidenum">
              <a:rPr lang="en-US" smtClean="0"/>
              <a:pPr/>
              <a:t>3</a:t>
            </a:fld>
            <a:endParaRPr lang="en-US" dirty="0"/>
          </a:p>
        </p:txBody>
      </p:sp>
      <p:graphicFrame>
        <p:nvGraphicFramePr>
          <p:cNvPr id="5" name="Table 4">
            <a:extLst>
              <a:ext uri="{FF2B5EF4-FFF2-40B4-BE49-F238E27FC236}">
                <a16:creationId xmlns:a16="http://schemas.microsoft.com/office/drawing/2014/main" id="{71DE950C-CECA-27AD-FD2C-93BC5CBB39A3}"/>
              </a:ext>
            </a:extLst>
          </p:cNvPr>
          <p:cNvGraphicFramePr>
            <a:graphicFrameLocks noGrp="1"/>
          </p:cNvGraphicFramePr>
          <p:nvPr>
            <p:extLst>
              <p:ext uri="{D42A27DB-BD31-4B8C-83A1-F6EECF244321}">
                <p14:modId xmlns:p14="http://schemas.microsoft.com/office/powerpoint/2010/main" val="3489141691"/>
              </p:ext>
            </p:extLst>
          </p:nvPr>
        </p:nvGraphicFramePr>
        <p:xfrm>
          <a:off x="1107947" y="877825"/>
          <a:ext cx="10002013" cy="4969764"/>
        </p:xfrm>
        <a:graphic>
          <a:graphicData uri="http://schemas.openxmlformats.org/drawingml/2006/table">
            <a:tbl>
              <a:tblPr firstRow="1" bandRow="1">
                <a:tableStyleId>{0E3FDE45-AF77-4B5C-9715-49D594BDF05E}</a:tableStyleId>
              </a:tblPr>
              <a:tblGrid>
                <a:gridCol w="1365995">
                  <a:extLst>
                    <a:ext uri="{9D8B030D-6E8A-4147-A177-3AD203B41FA5}">
                      <a16:colId xmlns:a16="http://schemas.microsoft.com/office/drawing/2014/main" val="175633007"/>
                    </a:ext>
                  </a:extLst>
                </a:gridCol>
                <a:gridCol w="2707672">
                  <a:extLst>
                    <a:ext uri="{9D8B030D-6E8A-4147-A177-3AD203B41FA5}">
                      <a16:colId xmlns:a16="http://schemas.microsoft.com/office/drawing/2014/main" val="1273777779"/>
                    </a:ext>
                  </a:extLst>
                </a:gridCol>
                <a:gridCol w="5928346">
                  <a:extLst>
                    <a:ext uri="{9D8B030D-6E8A-4147-A177-3AD203B41FA5}">
                      <a16:colId xmlns:a16="http://schemas.microsoft.com/office/drawing/2014/main" val="131598680"/>
                    </a:ext>
                  </a:extLst>
                </a:gridCol>
              </a:tblGrid>
              <a:tr h="417968">
                <a:tc>
                  <a:txBody>
                    <a:bodyPr/>
                    <a:lstStyle/>
                    <a:p>
                      <a:r>
                        <a:rPr lang="en-GB" dirty="0"/>
                        <a:t>Pattern</a:t>
                      </a:r>
                    </a:p>
                  </a:txBody>
                  <a:tcPr/>
                </a:tc>
                <a:tc>
                  <a:txBody>
                    <a:bodyPr/>
                    <a:lstStyle/>
                    <a:p>
                      <a:r>
                        <a:rPr lang="en-GB" dirty="0"/>
                        <a:t>Definition</a:t>
                      </a:r>
                    </a:p>
                  </a:txBody>
                  <a:tcPr/>
                </a:tc>
                <a:tc>
                  <a:txBody>
                    <a:bodyPr/>
                    <a:lstStyle/>
                    <a:p>
                      <a:r>
                        <a:rPr lang="en-GB" dirty="0"/>
                        <a:t>Understanding</a:t>
                      </a:r>
                    </a:p>
                  </a:txBody>
                  <a:tcPr/>
                </a:tc>
                <a:extLst>
                  <a:ext uri="{0D108BD9-81ED-4DB2-BD59-A6C34878D82A}">
                    <a16:rowId xmlns:a16="http://schemas.microsoft.com/office/drawing/2014/main" val="1438203525"/>
                  </a:ext>
                </a:extLst>
              </a:tr>
              <a:tr h="760981">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Singleton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Ensures a class has only one instance and provides a global point of access to it.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Only one version of something should exist, and the whole program uses that same version. Like one shared rulebook / config object.</a:t>
                      </a:r>
                    </a:p>
                  </a:txBody>
                  <a:tcPr marL="9525" marR="9525" marT="9525" marB="0" anchor="ctr"/>
                </a:tc>
                <a:extLst>
                  <a:ext uri="{0D108BD9-81ED-4DB2-BD59-A6C34878D82A}">
                    <a16:rowId xmlns:a16="http://schemas.microsoft.com/office/drawing/2014/main" val="3504976194"/>
                  </a:ext>
                </a:extLst>
              </a:tr>
              <a:tr h="955355">
                <a:tc>
                  <a:txBody>
                    <a:bodyPr/>
                    <a:lstStyle/>
                    <a:p>
                      <a:pPr marL="0" algn="l" defTabSz="914400" rtl="0" eaLnBrk="1" fontAlgn="b" latinLnBrk="0" hangingPunct="1">
                        <a:buNone/>
                      </a:pPr>
                      <a:r>
                        <a:rPr lang="en-GB" sz="1400" b="0" i="0" kern="1200">
                          <a:solidFill>
                            <a:schemeClr val="tx1"/>
                          </a:solidFill>
                          <a:effectLst/>
                          <a:latin typeface="+mn-lt"/>
                          <a:ea typeface="+mn-ea"/>
                          <a:cs typeface="+mn-cs"/>
                        </a:rPr>
                        <a:t>Factory Method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Defines an interface for creating objects but lets subclasses alter the type of objects created.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Separates object creation from object usage. The main program should use factories and shared behaviour, i.e. not directly create Sedan, SUV or Hatchback.</a:t>
                      </a:r>
                    </a:p>
                  </a:txBody>
                  <a:tcPr marL="9525" marR="9525" marT="9525" marB="0" anchor="ctr"/>
                </a:tc>
                <a:extLst>
                  <a:ext uri="{0D108BD9-81ED-4DB2-BD59-A6C34878D82A}">
                    <a16:rowId xmlns:a16="http://schemas.microsoft.com/office/drawing/2014/main" val="263617703"/>
                  </a:ext>
                </a:extLst>
              </a:tr>
              <a:tr h="776225">
                <a:tc>
                  <a:txBody>
                    <a:bodyPr/>
                    <a:lstStyle/>
                    <a:p>
                      <a:pPr marL="0" algn="l" defTabSz="914400" rtl="0" eaLnBrk="1" fontAlgn="b" latinLnBrk="0" hangingPunct="1">
                        <a:buNone/>
                      </a:pPr>
                      <a:r>
                        <a:rPr lang="en-GB" sz="1400" b="0" i="0" kern="1200">
                          <a:solidFill>
                            <a:schemeClr val="tx1"/>
                          </a:solidFill>
                          <a:effectLst/>
                          <a:latin typeface="+mn-lt"/>
                          <a:ea typeface="+mn-ea"/>
                          <a:cs typeface="+mn-cs"/>
                        </a:rPr>
                        <a:t>Builder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Separates the construction of a complex object from its representation.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Build the object piece-by-piece, rather than passing everything into one large constructor immediately.</a:t>
                      </a:r>
                    </a:p>
                  </a:txBody>
                  <a:tcPr marL="9525" marR="9525" marT="9525" marB="0" anchor="ctr"/>
                </a:tc>
                <a:extLst>
                  <a:ext uri="{0D108BD9-81ED-4DB2-BD59-A6C34878D82A}">
                    <a16:rowId xmlns:a16="http://schemas.microsoft.com/office/drawing/2014/main" val="1759134326"/>
                  </a:ext>
                </a:extLst>
              </a:tr>
              <a:tr h="923105">
                <a:tc>
                  <a:txBody>
                    <a:bodyPr/>
                    <a:lstStyle/>
                    <a:p>
                      <a:pPr marL="0" algn="l" defTabSz="914400" rtl="0" eaLnBrk="1" fontAlgn="b" latinLnBrk="0" hangingPunct="1">
                        <a:buNone/>
                      </a:pPr>
                      <a:r>
                        <a:rPr lang="en-GB" sz="1400" b="0" i="0" kern="1200">
                          <a:solidFill>
                            <a:schemeClr val="tx1"/>
                          </a:solidFill>
                          <a:effectLst/>
                          <a:latin typeface="+mn-lt"/>
                          <a:ea typeface="+mn-ea"/>
                          <a:cs typeface="+mn-cs"/>
                        </a:rPr>
                        <a:t>Prototype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Allows cloning of objects without making the code depend on their concrete classes.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Create a new object from an existing configured object, then change only what is different.</a:t>
                      </a:r>
                    </a:p>
                  </a:txBody>
                  <a:tcPr marL="9525" marR="9525" marT="9525" marB="0" anchor="ctr"/>
                </a:tc>
                <a:extLst>
                  <a:ext uri="{0D108BD9-81ED-4DB2-BD59-A6C34878D82A}">
                    <a16:rowId xmlns:a16="http://schemas.microsoft.com/office/drawing/2014/main" val="1068756841"/>
                  </a:ext>
                </a:extLst>
              </a:tr>
              <a:tr h="1136130">
                <a:tc>
                  <a:txBody>
                    <a:bodyPr/>
                    <a:lstStyle/>
                    <a:p>
                      <a:pPr marL="0" algn="l" defTabSz="914400" rtl="0" eaLnBrk="1" fontAlgn="b" latinLnBrk="0" hangingPunct="1">
                        <a:buNone/>
                      </a:pPr>
                      <a:r>
                        <a:rPr lang="en-GB" sz="1400" b="0" i="0" kern="1200">
                          <a:solidFill>
                            <a:schemeClr val="tx1"/>
                          </a:solidFill>
                          <a:effectLst/>
                          <a:latin typeface="+mn-lt"/>
                          <a:ea typeface="+mn-ea"/>
                          <a:cs typeface="+mn-cs"/>
                        </a:rPr>
                        <a:t>Abstract Factory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Creates families of related objects without specifying their concrete classes.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Similar calls, but different factories produce different related objects. Factory Method creates one object; Abstract Factory creates a family.</a:t>
                      </a:r>
                    </a:p>
                  </a:txBody>
                  <a:tcPr marL="9525" marR="9525" marT="9525" marB="0" anchor="ctr"/>
                </a:tc>
                <a:extLst>
                  <a:ext uri="{0D108BD9-81ED-4DB2-BD59-A6C34878D82A}">
                    <a16:rowId xmlns:a16="http://schemas.microsoft.com/office/drawing/2014/main" val="290285759"/>
                  </a:ext>
                </a:extLst>
              </a:tr>
            </a:tbl>
          </a:graphicData>
        </a:graphic>
      </p:graphicFrame>
    </p:spTree>
    <p:extLst>
      <p:ext uri="{BB962C8B-B14F-4D97-AF65-F5344CB8AC3E}">
        <p14:creationId xmlns:p14="http://schemas.microsoft.com/office/powerpoint/2010/main" val="189569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6FC5-797B-4BB0-3EE2-5A9E25756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3BB0F-D2C1-93DC-2557-A532D621C5CD}"/>
              </a:ext>
            </a:extLst>
          </p:cNvPr>
          <p:cNvSpPr>
            <a:spLocks noGrp="1"/>
          </p:cNvSpPr>
          <p:nvPr>
            <p:ph type="title"/>
          </p:nvPr>
        </p:nvSpPr>
        <p:spPr>
          <a:xfrm>
            <a:off x="1481167" y="266109"/>
            <a:ext cx="9229665" cy="611716"/>
          </a:xfrm>
        </p:spPr>
        <p:txBody>
          <a:bodyPr/>
          <a:lstStyle/>
          <a:p>
            <a:r>
              <a:rPr lang="en-GB" dirty="0"/>
              <a:t>Structural Patterns</a:t>
            </a:r>
          </a:p>
        </p:txBody>
      </p:sp>
      <p:sp>
        <p:nvSpPr>
          <p:cNvPr id="4" name="Slide Number Placeholder 3">
            <a:extLst>
              <a:ext uri="{FF2B5EF4-FFF2-40B4-BE49-F238E27FC236}">
                <a16:creationId xmlns:a16="http://schemas.microsoft.com/office/drawing/2014/main" id="{E78C3AC7-A29F-100F-901A-BEA994E09E16}"/>
              </a:ext>
            </a:extLst>
          </p:cNvPr>
          <p:cNvSpPr>
            <a:spLocks noGrp="1"/>
          </p:cNvSpPr>
          <p:nvPr>
            <p:ph type="sldNum" sz="quarter" idx="15"/>
          </p:nvPr>
        </p:nvSpPr>
        <p:spPr/>
        <p:txBody>
          <a:bodyPr/>
          <a:lstStyle/>
          <a:p>
            <a:fld id="{18D65601-5AE2-46FC-B138-694DDD2B510D}" type="slidenum">
              <a:rPr lang="en-US" smtClean="0"/>
              <a:pPr/>
              <a:t>4</a:t>
            </a:fld>
            <a:endParaRPr lang="en-US" dirty="0"/>
          </a:p>
        </p:txBody>
      </p:sp>
      <p:graphicFrame>
        <p:nvGraphicFramePr>
          <p:cNvPr id="5" name="Table 4">
            <a:extLst>
              <a:ext uri="{FF2B5EF4-FFF2-40B4-BE49-F238E27FC236}">
                <a16:creationId xmlns:a16="http://schemas.microsoft.com/office/drawing/2014/main" id="{2BAA11F3-A719-14D4-9009-0A39D429AC14}"/>
              </a:ext>
            </a:extLst>
          </p:cNvPr>
          <p:cNvGraphicFramePr>
            <a:graphicFrameLocks noGrp="1"/>
          </p:cNvGraphicFramePr>
          <p:nvPr>
            <p:extLst>
              <p:ext uri="{D42A27DB-BD31-4B8C-83A1-F6EECF244321}">
                <p14:modId xmlns:p14="http://schemas.microsoft.com/office/powerpoint/2010/main" val="3738829555"/>
              </p:ext>
            </p:extLst>
          </p:nvPr>
        </p:nvGraphicFramePr>
        <p:xfrm>
          <a:off x="1107947" y="877825"/>
          <a:ext cx="10002013" cy="5065774"/>
        </p:xfrm>
        <a:graphic>
          <a:graphicData uri="http://schemas.openxmlformats.org/drawingml/2006/table">
            <a:tbl>
              <a:tblPr firstRow="1" bandRow="1">
                <a:tableStyleId>{0E3FDE45-AF77-4B5C-9715-49D594BDF05E}</a:tableStyleId>
              </a:tblPr>
              <a:tblGrid>
                <a:gridCol w="1245287">
                  <a:extLst>
                    <a:ext uri="{9D8B030D-6E8A-4147-A177-3AD203B41FA5}">
                      <a16:colId xmlns:a16="http://schemas.microsoft.com/office/drawing/2014/main" val="175633007"/>
                    </a:ext>
                  </a:extLst>
                </a:gridCol>
                <a:gridCol w="3722106">
                  <a:extLst>
                    <a:ext uri="{9D8B030D-6E8A-4147-A177-3AD203B41FA5}">
                      <a16:colId xmlns:a16="http://schemas.microsoft.com/office/drawing/2014/main" val="1273777779"/>
                    </a:ext>
                  </a:extLst>
                </a:gridCol>
                <a:gridCol w="5034620">
                  <a:extLst>
                    <a:ext uri="{9D8B030D-6E8A-4147-A177-3AD203B41FA5}">
                      <a16:colId xmlns:a16="http://schemas.microsoft.com/office/drawing/2014/main" val="131598680"/>
                    </a:ext>
                  </a:extLst>
                </a:gridCol>
              </a:tblGrid>
              <a:tr h="437200">
                <a:tc>
                  <a:txBody>
                    <a:bodyPr/>
                    <a:lstStyle/>
                    <a:p>
                      <a:r>
                        <a:rPr lang="en-GB" dirty="0"/>
                        <a:t>Pattern</a:t>
                      </a:r>
                    </a:p>
                  </a:txBody>
                  <a:tcPr/>
                </a:tc>
                <a:tc>
                  <a:txBody>
                    <a:bodyPr/>
                    <a:lstStyle/>
                    <a:p>
                      <a:r>
                        <a:rPr lang="en-GB" dirty="0"/>
                        <a:t>Definition</a:t>
                      </a:r>
                    </a:p>
                  </a:txBody>
                  <a:tcPr/>
                </a:tc>
                <a:tc>
                  <a:txBody>
                    <a:bodyPr/>
                    <a:lstStyle/>
                    <a:p>
                      <a:r>
                        <a:rPr lang="en-GB" dirty="0"/>
                        <a:t>Understanding</a:t>
                      </a:r>
                    </a:p>
                  </a:txBody>
                  <a:tcPr/>
                </a:tc>
                <a:extLst>
                  <a:ext uri="{0D108BD9-81ED-4DB2-BD59-A6C34878D82A}">
                    <a16:rowId xmlns:a16="http://schemas.microsoft.com/office/drawing/2014/main" val="1438203525"/>
                  </a:ext>
                </a:extLst>
              </a:tr>
              <a:tr h="687981">
                <a:tc>
                  <a:txBody>
                    <a:bodyPr/>
                    <a:lstStyle/>
                    <a:p>
                      <a:pPr algn="l" fontAlgn="b">
                        <a:buNone/>
                      </a:pPr>
                      <a:r>
                        <a:rPr lang="en-GB" sz="1400" b="0" i="0" kern="1200" dirty="0">
                          <a:solidFill>
                            <a:schemeClr val="tx1"/>
                          </a:solidFill>
                          <a:effectLst/>
                          <a:latin typeface="+mn-lt"/>
                          <a:ea typeface="+mn-ea"/>
                          <a:cs typeface="+mn-cs"/>
                        </a:rPr>
                        <a:t>Adapter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Allows incompatible interfaces to work together.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Connectivity between non-compatible interfaces.</a:t>
                      </a:r>
                    </a:p>
                  </a:txBody>
                  <a:tcPr marL="9525" marR="9525" marT="9525" marB="0" anchor="ctr"/>
                </a:tc>
                <a:extLst>
                  <a:ext uri="{0D108BD9-81ED-4DB2-BD59-A6C34878D82A}">
                    <a16:rowId xmlns:a16="http://schemas.microsoft.com/office/drawing/2014/main" val="3504976194"/>
                  </a:ext>
                </a:extLst>
              </a:tr>
              <a:tr h="589615">
                <a:tc>
                  <a:txBody>
                    <a:bodyPr/>
                    <a:lstStyle/>
                    <a:p>
                      <a:pPr algn="l" fontAlgn="b">
                        <a:buNone/>
                      </a:pPr>
                      <a:r>
                        <a:rPr lang="en-GB" sz="1400" b="0" i="0" kern="1200">
                          <a:solidFill>
                            <a:schemeClr val="tx1"/>
                          </a:solidFill>
                          <a:effectLst/>
                          <a:latin typeface="+mn-lt"/>
                          <a:ea typeface="+mn-ea"/>
                          <a:cs typeface="+mn-cs"/>
                        </a:rPr>
                        <a:t>Proxy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Provides a substitute or placeholder object that controls access to another object.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Control layer, deciding if access between systems is allowed before connecting.</a:t>
                      </a:r>
                    </a:p>
                  </a:txBody>
                  <a:tcPr marL="9525" marR="9525" marT="9525" marB="0" anchor="ctr"/>
                </a:tc>
                <a:extLst>
                  <a:ext uri="{0D108BD9-81ED-4DB2-BD59-A6C34878D82A}">
                    <a16:rowId xmlns:a16="http://schemas.microsoft.com/office/drawing/2014/main" val="263617703"/>
                  </a:ext>
                </a:extLst>
              </a:tr>
              <a:tr h="678057">
                <a:tc>
                  <a:txBody>
                    <a:bodyPr/>
                    <a:lstStyle/>
                    <a:p>
                      <a:pPr algn="l" fontAlgn="b">
                        <a:buNone/>
                      </a:pPr>
                      <a:r>
                        <a:rPr lang="en-GB" sz="1400" b="0" i="0" kern="1200">
                          <a:solidFill>
                            <a:schemeClr val="tx1"/>
                          </a:solidFill>
                          <a:effectLst/>
                          <a:latin typeface="+mn-lt"/>
                          <a:ea typeface="+mn-ea"/>
                          <a:cs typeface="+mn-cs"/>
                        </a:rPr>
                        <a:t>Decorator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Adds responsibilities to an object dynamically without modifying the original object.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Adding functionality piecemeal, original code remains as is.</a:t>
                      </a:r>
                    </a:p>
                  </a:txBody>
                  <a:tcPr marL="9525" marR="9525" marT="9525" marB="0" anchor="ctr"/>
                </a:tc>
                <a:extLst>
                  <a:ext uri="{0D108BD9-81ED-4DB2-BD59-A6C34878D82A}">
                    <a16:rowId xmlns:a16="http://schemas.microsoft.com/office/drawing/2014/main" val="1759134326"/>
                  </a:ext>
                </a:extLst>
              </a:tr>
              <a:tr h="668231">
                <a:tc>
                  <a:txBody>
                    <a:bodyPr/>
                    <a:lstStyle/>
                    <a:p>
                      <a:pPr algn="l" fontAlgn="b">
                        <a:buNone/>
                      </a:pPr>
                      <a:r>
                        <a:rPr lang="en-GB" sz="1400" b="0" i="0" kern="1200">
                          <a:solidFill>
                            <a:schemeClr val="tx1"/>
                          </a:solidFill>
                          <a:effectLst/>
                          <a:latin typeface="+mn-lt"/>
                          <a:ea typeface="+mn-ea"/>
                          <a:cs typeface="+mn-cs"/>
                        </a:rPr>
                        <a:t>Facade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Provides a simplified interface to a larger or more complex subsystem.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Bundles functions, hiding complexity from the end user and increasing usability.</a:t>
                      </a:r>
                    </a:p>
                  </a:txBody>
                  <a:tcPr marL="9525" marR="9525" marT="9525" marB="0" anchor="ctr"/>
                </a:tc>
                <a:extLst>
                  <a:ext uri="{0D108BD9-81ED-4DB2-BD59-A6C34878D82A}">
                    <a16:rowId xmlns:a16="http://schemas.microsoft.com/office/drawing/2014/main" val="1068756841"/>
                  </a:ext>
                </a:extLst>
              </a:tr>
              <a:tr h="815633">
                <a:tc>
                  <a:txBody>
                    <a:bodyPr/>
                    <a:lstStyle/>
                    <a:p>
                      <a:pPr algn="l" fontAlgn="b">
                        <a:buNone/>
                      </a:pPr>
                      <a:r>
                        <a:rPr lang="en-GB" sz="1400" b="0" i="0" kern="1200" dirty="0">
                          <a:solidFill>
                            <a:schemeClr val="tx1"/>
                          </a:solidFill>
                          <a:effectLst/>
                          <a:latin typeface="+mn-lt"/>
                          <a:ea typeface="+mn-ea"/>
                          <a:cs typeface="+mn-cs"/>
                        </a:rPr>
                        <a:t>Composite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Composes objects into tree structures to represent part-whole hierarchies.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Organise objects into a tree structure so that individual items and collections can be treated the same way.</a:t>
                      </a:r>
                    </a:p>
                  </a:txBody>
                  <a:tcPr marL="9525" marR="9525" marT="9525" marB="0" anchor="ctr"/>
                </a:tc>
                <a:extLst>
                  <a:ext uri="{0D108BD9-81ED-4DB2-BD59-A6C34878D82A}">
                    <a16:rowId xmlns:a16="http://schemas.microsoft.com/office/drawing/2014/main" val="290285759"/>
                  </a:ext>
                </a:extLst>
              </a:tr>
              <a:tr h="599442">
                <a:tc>
                  <a:txBody>
                    <a:bodyPr/>
                    <a:lstStyle/>
                    <a:p>
                      <a:pPr algn="l" fontAlgn="b">
                        <a:buNone/>
                      </a:pPr>
                      <a:r>
                        <a:rPr lang="en-GB" sz="1400" b="0" i="0" kern="1200" dirty="0">
                          <a:solidFill>
                            <a:schemeClr val="tx1"/>
                          </a:solidFill>
                          <a:effectLst/>
                          <a:latin typeface="+mn-lt"/>
                          <a:ea typeface="+mn-ea"/>
                          <a:cs typeface="+mn-cs"/>
                        </a:rPr>
                        <a:t>Bridge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 Separates abstraction from implementation so both can vary independently.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 Separating independent aspects of an object, preventing runaway class definitions.</a:t>
                      </a:r>
                    </a:p>
                  </a:txBody>
                  <a:tcPr marL="9525" marR="9525" marT="9525" marB="0" anchor="ctr"/>
                </a:tc>
                <a:extLst>
                  <a:ext uri="{0D108BD9-81ED-4DB2-BD59-A6C34878D82A}">
                    <a16:rowId xmlns:a16="http://schemas.microsoft.com/office/drawing/2014/main" val="3469202295"/>
                  </a:ext>
                </a:extLst>
              </a:tr>
              <a:tr h="589615">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Flyweight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 Shares common state between many objects to reduce memory usage. </a:t>
                      </a:r>
                    </a:p>
                  </a:txBody>
                  <a:tcPr marL="9525" marR="9525" marT="9525" marB="0" anchor="ctr"/>
                </a:tc>
                <a:tc>
                  <a:txBody>
                    <a:bodyPr/>
                    <a:lstStyle/>
                    <a:p>
                      <a:pPr marL="0" algn="l" defTabSz="914400" rtl="0" eaLnBrk="1" fontAlgn="b" latinLnBrk="0" hangingPunct="1">
                        <a:buNone/>
                      </a:pPr>
                      <a:r>
                        <a:rPr lang="en-GB" sz="1400" b="0" i="0" kern="1200" dirty="0">
                          <a:solidFill>
                            <a:schemeClr val="tx1"/>
                          </a:solidFill>
                          <a:effectLst/>
                          <a:latin typeface="+mn-lt"/>
                          <a:ea typeface="+mn-ea"/>
                          <a:cs typeface="+mn-cs"/>
                        </a:rPr>
                        <a:t> Increase storage / memory efficiency by referencing existing memory objects.</a:t>
                      </a:r>
                    </a:p>
                  </a:txBody>
                  <a:tcPr marL="9525" marR="9525" marT="9525" marB="0" anchor="ctr"/>
                </a:tc>
                <a:extLst>
                  <a:ext uri="{0D108BD9-81ED-4DB2-BD59-A6C34878D82A}">
                    <a16:rowId xmlns:a16="http://schemas.microsoft.com/office/drawing/2014/main" val="2018352307"/>
                  </a:ext>
                </a:extLst>
              </a:tr>
            </a:tbl>
          </a:graphicData>
        </a:graphic>
      </p:graphicFrame>
    </p:spTree>
    <p:extLst>
      <p:ext uri="{BB962C8B-B14F-4D97-AF65-F5344CB8AC3E}">
        <p14:creationId xmlns:p14="http://schemas.microsoft.com/office/powerpoint/2010/main" val="2458942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8CB43-1328-E490-8879-2CAB72454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D4B81-3249-5678-D5FE-29953216CF3A}"/>
              </a:ext>
            </a:extLst>
          </p:cNvPr>
          <p:cNvSpPr>
            <a:spLocks noGrp="1"/>
          </p:cNvSpPr>
          <p:nvPr>
            <p:ph type="title"/>
          </p:nvPr>
        </p:nvSpPr>
        <p:spPr>
          <a:xfrm>
            <a:off x="1481167" y="266109"/>
            <a:ext cx="9229665" cy="611716"/>
          </a:xfrm>
        </p:spPr>
        <p:txBody>
          <a:bodyPr/>
          <a:lstStyle/>
          <a:p>
            <a:r>
              <a:rPr lang="en-GB" dirty="0"/>
              <a:t>Behavioural Patterns</a:t>
            </a:r>
          </a:p>
        </p:txBody>
      </p:sp>
      <p:sp>
        <p:nvSpPr>
          <p:cNvPr id="4" name="Slide Number Placeholder 3">
            <a:extLst>
              <a:ext uri="{FF2B5EF4-FFF2-40B4-BE49-F238E27FC236}">
                <a16:creationId xmlns:a16="http://schemas.microsoft.com/office/drawing/2014/main" id="{E18AA3BD-1158-5DEA-D318-6742337C35E9}"/>
              </a:ext>
            </a:extLst>
          </p:cNvPr>
          <p:cNvSpPr>
            <a:spLocks noGrp="1"/>
          </p:cNvSpPr>
          <p:nvPr>
            <p:ph type="sldNum" sz="quarter" idx="15"/>
          </p:nvPr>
        </p:nvSpPr>
        <p:spPr/>
        <p:txBody>
          <a:bodyPr/>
          <a:lstStyle/>
          <a:p>
            <a:fld id="{18D65601-5AE2-46FC-B138-694DDD2B510D}" type="slidenum">
              <a:rPr lang="en-US" smtClean="0"/>
              <a:pPr/>
              <a:t>5</a:t>
            </a:fld>
            <a:endParaRPr lang="en-US" dirty="0"/>
          </a:p>
        </p:txBody>
      </p:sp>
      <p:graphicFrame>
        <p:nvGraphicFramePr>
          <p:cNvPr id="5" name="Table 4">
            <a:extLst>
              <a:ext uri="{FF2B5EF4-FFF2-40B4-BE49-F238E27FC236}">
                <a16:creationId xmlns:a16="http://schemas.microsoft.com/office/drawing/2014/main" id="{1BCBCFBE-7637-FB32-A764-9F0BB0BA1962}"/>
              </a:ext>
            </a:extLst>
          </p:cNvPr>
          <p:cNvGraphicFramePr>
            <a:graphicFrameLocks noGrp="1"/>
          </p:cNvGraphicFramePr>
          <p:nvPr>
            <p:extLst>
              <p:ext uri="{D42A27DB-BD31-4B8C-83A1-F6EECF244321}">
                <p14:modId xmlns:p14="http://schemas.microsoft.com/office/powerpoint/2010/main" val="1104047628"/>
              </p:ext>
            </p:extLst>
          </p:nvPr>
        </p:nvGraphicFramePr>
        <p:xfrm>
          <a:off x="1107947" y="877825"/>
          <a:ext cx="9983725" cy="5109728"/>
        </p:xfrm>
        <a:graphic>
          <a:graphicData uri="http://schemas.openxmlformats.org/drawingml/2006/table">
            <a:tbl>
              <a:tblPr firstRow="1" bandRow="1">
                <a:tableStyleId>{0E3FDE45-AF77-4B5C-9715-49D594BDF05E}</a:tableStyleId>
              </a:tblPr>
              <a:tblGrid>
                <a:gridCol w="1363497">
                  <a:extLst>
                    <a:ext uri="{9D8B030D-6E8A-4147-A177-3AD203B41FA5}">
                      <a16:colId xmlns:a16="http://schemas.microsoft.com/office/drawing/2014/main" val="175633007"/>
                    </a:ext>
                  </a:extLst>
                </a:gridCol>
                <a:gridCol w="3649719">
                  <a:extLst>
                    <a:ext uri="{9D8B030D-6E8A-4147-A177-3AD203B41FA5}">
                      <a16:colId xmlns:a16="http://schemas.microsoft.com/office/drawing/2014/main" val="1273777779"/>
                    </a:ext>
                  </a:extLst>
                </a:gridCol>
                <a:gridCol w="4970509">
                  <a:extLst>
                    <a:ext uri="{9D8B030D-6E8A-4147-A177-3AD203B41FA5}">
                      <a16:colId xmlns:a16="http://schemas.microsoft.com/office/drawing/2014/main" val="131598680"/>
                    </a:ext>
                  </a:extLst>
                </a:gridCol>
              </a:tblGrid>
              <a:tr h="375504">
                <a:tc>
                  <a:txBody>
                    <a:bodyPr/>
                    <a:lstStyle/>
                    <a:p>
                      <a:r>
                        <a:rPr lang="en-GB" dirty="0"/>
                        <a:t>Pattern</a:t>
                      </a:r>
                    </a:p>
                  </a:txBody>
                  <a:tcPr/>
                </a:tc>
                <a:tc>
                  <a:txBody>
                    <a:bodyPr/>
                    <a:lstStyle/>
                    <a:p>
                      <a:r>
                        <a:rPr lang="en-GB" dirty="0"/>
                        <a:t>Definition</a:t>
                      </a:r>
                    </a:p>
                  </a:txBody>
                  <a:tcPr/>
                </a:tc>
                <a:tc>
                  <a:txBody>
                    <a:bodyPr/>
                    <a:lstStyle/>
                    <a:p>
                      <a:r>
                        <a:rPr lang="en-GB" dirty="0"/>
                        <a:t>Understanding</a:t>
                      </a:r>
                    </a:p>
                  </a:txBody>
                  <a:tcPr/>
                </a:tc>
                <a:extLst>
                  <a:ext uri="{0D108BD9-81ED-4DB2-BD59-A6C34878D82A}">
                    <a16:rowId xmlns:a16="http://schemas.microsoft.com/office/drawing/2014/main" val="1438203525"/>
                  </a:ext>
                </a:extLst>
              </a:tr>
              <a:tr h="630158">
                <a:tc>
                  <a:txBody>
                    <a:bodyPr/>
                    <a:lstStyle/>
                    <a:p>
                      <a:pPr algn="l" fontAlgn="b">
                        <a:buNone/>
                      </a:pPr>
                      <a:r>
                        <a:rPr lang="en-GB" sz="1400" b="0" i="0" kern="1200" dirty="0">
                          <a:solidFill>
                            <a:schemeClr val="tx1"/>
                          </a:solidFill>
                          <a:effectLst/>
                          <a:latin typeface="+mn-lt"/>
                          <a:ea typeface="+mn-ea"/>
                          <a:cs typeface="+mn-cs"/>
                        </a:rPr>
                        <a:t>Strategy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Defines a family of algorithms, encapsulates each one, and makes them interchangeable.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Chooses from interchangeable methods to complete the action.</a:t>
                      </a:r>
                    </a:p>
                  </a:txBody>
                  <a:tcPr marL="9525" marR="9525" marT="9525" marB="0" anchor="ctr"/>
                </a:tc>
                <a:extLst>
                  <a:ext uri="{0D108BD9-81ED-4DB2-BD59-A6C34878D82A}">
                    <a16:rowId xmlns:a16="http://schemas.microsoft.com/office/drawing/2014/main" val="3504976194"/>
                  </a:ext>
                </a:extLst>
              </a:tr>
              <a:tr h="791117">
                <a:tc>
                  <a:txBody>
                    <a:bodyPr/>
                    <a:lstStyle/>
                    <a:p>
                      <a:pPr algn="l" fontAlgn="b">
                        <a:buNone/>
                      </a:pPr>
                      <a:r>
                        <a:rPr lang="en-GB" sz="1400" b="0" i="0" kern="1200" dirty="0">
                          <a:solidFill>
                            <a:schemeClr val="tx1"/>
                          </a:solidFill>
                          <a:effectLst/>
                          <a:latin typeface="+mn-lt"/>
                          <a:ea typeface="+mn-ea"/>
                          <a:cs typeface="+mn-cs"/>
                        </a:rPr>
                        <a:t>State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Allows an object to alter its behaviour when its internal state changes.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The state of the object decides which actions and behaviours are available.</a:t>
                      </a:r>
                    </a:p>
                  </a:txBody>
                  <a:tcPr marL="9525" marR="9525" marT="9525" marB="0" anchor="ctr"/>
                </a:tc>
                <a:extLst>
                  <a:ext uri="{0D108BD9-81ED-4DB2-BD59-A6C34878D82A}">
                    <a16:rowId xmlns:a16="http://schemas.microsoft.com/office/drawing/2014/main" val="263617703"/>
                  </a:ext>
                </a:extLst>
              </a:tr>
              <a:tr h="666910">
                <a:tc>
                  <a:txBody>
                    <a:bodyPr/>
                    <a:lstStyle/>
                    <a:p>
                      <a:pPr algn="l" fontAlgn="b">
                        <a:buNone/>
                      </a:pPr>
                      <a:r>
                        <a:rPr lang="en-GB" sz="1400" b="0" i="0" kern="1200">
                          <a:solidFill>
                            <a:schemeClr val="tx1"/>
                          </a:solidFill>
                          <a:effectLst/>
                          <a:latin typeface="+mn-lt"/>
                          <a:ea typeface="+mn-ea"/>
                          <a:cs typeface="+mn-cs"/>
                        </a:rPr>
                        <a:t>Observer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Defines a one-to-many dependency so that dependents are notified when an object changes state.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Notifies and updates dependent objects when an object's state changes.</a:t>
                      </a:r>
                    </a:p>
                  </a:txBody>
                  <a:tcPr marL="9525" marR="9525" marT="9525" marB="0" anchor="ctr"/>
                </a:tc>
                <a:extLst>
                  <a:ext uri="{0D108BD9-81ED-4DB2-BD59-A6C34878D82A}">
                    <a16:rowId xmlns:a16="http://schemas.microsoft.com/office/drawing/2014/main" val="1759134326"/>
                  </a:ext>
                </a:extLst>
              </a:tr>
              <a:tr h="764411">
                <a:tc>
                  <a:txBody>
                    <a:bodyPr/>
                    <a:lstStyle/>
                    <a:p>
                      <a:pPr algn="l" fontAlgn="b">
                        <a:buNone/>
                      </a:pPr>
                      <a:r>
                        <a:rPr lang="en-GB" sz="1400" b="0" i="0" kern="1200">
                          <a:solidFill>
                            <a:schemeClr val="tx1"/>
                          </a:solidFill>
                          <a:effectLst/>
                          <a:latin typeface="+mn-lt"/>
                          <a:ea typeface="+mn-ea"/>
                          <a:cs typeface="+mn-cs"/>
                        </a:rPr>
                        <a:t>Chain of Responsibility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Passes a request along a chain of handlers until one handles it.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Request passes through a hierarchy of handlers until an appropriate handler is found.</a:t>
                      </a:r>
                    </a:p>
                  </a:txBody>
                  <a:tcPr marL="9525" marR="9525" marT="9525" marB="0" anchor="ctr"/>
                </a:tc>
                <a:extLst>
                  <a:ext uri="{0D108BD9-81ED-4DB2-BD59-A6C34878D82A}">
                    <a16:rowId xmlns:a16="http://schemas.microsoft.com/office/drawing/2014/main" val="1068756841"/>
                  </a:ext>
                </a:extLst>
              </a:tr>
              <a:tr h="940814">
                <a:tc>
                  <a:txBody>
                    <a:bodyPr/>
                    <a:lstStyle/>
                    <a:p>
                      <a:pPr algn="l" fontAlgn="b">
                        <a:buNone/>
                      </a:pPr>
                      <a:r>
                        <a:rPr lang="en-GB" sz="1400" b="0" i="0" kern="1200" dirty="0">
                          <a:solidFill>
                            <a:schemeClr val="tx1"/>
                          </a:solidFill>
                          <a:effectLst/>
                          <a:latin typeface="+mn-lt"/>
                          <a:ea typeface="+mn-ea"/>
                          <a:cs typeface="+mn-cs"/>
                        </a:rPr>
                        <a:t>Command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Encapsulates a request as an object.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Store an action as an object for later processing.</a:t>
                      </a:r>
                    </a:p>
                  </a:txBody>
                  <a:tcPr marL="9525" marR="9525" marT="9525" marB="0" anchor="ctr"/>
                </a:tc>
                <a:extLst>
                  <a:ext uri="{0D108BD9-81ED-4DB2-BD59-A6C34878D82A}">
                    <a16:rowId xmlns:a16="http://schemas.microsoft.com/office/drawing/2014/main" val="911491571"/>
                  </a:ext>
                </a:extLst>
              </a:tr>
              <a:tr h="940814">
                <a:tc>
                  <a:txBody>
                    <a:bodyPr/>
                    <a:lstStyle/>
                    <a:p>
                      <a:pPr algn="l" fontAlgn="b">
                        <a:buNone/>
                      </a:pPr>
                      <a:r>
                        <a:rPr lang="en-GB" sz="1400" b="0" i="0" kern="1200" dirty="0">
                          <a:solidFill>
                            <a:schemeClr val="tx1"/>
                          </a:solidFill>
                          <a:effectLst/>
                          <a:latin typeface="+mn-lt"/>
                          <a:ea typeface="+mn-ea"/>
                          <a:cs typeface="+mn-cs"/>
                        </a:rPr>
                        <a:t>Template Method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Defines the skeleton of an algorithm while allowing subclasses to customise steps. </a:t>
                      </a:r>
                    </a:p>
                  </a:txBody>
                  <a:tcPr marL="9525" marR="9525" marT="9525" marB="0" anchor="ctr"/>
                </a:tc>
                <a:tc>
                  <a:txBody>
                    <a:bodyPr/>
                    <a:lstStyle/>
                    <a:p>
                      <a:pPr algn="l" fontAlgn="b">
                        <a:buNone/>
                      </a:pPr>
                      <a:r>
                        <a:rPr lang="en-GB" sz="1400" b="0" i="0" kern="1200" dirty="0">
                          <a:solidFill>
                            <a:schemeClr val="tx1"/>
                          </a:solidFill>
                          <a:effectLst/>
                          <a:latin typeface="+mn-lt"/>
                          <a:ea typeface="+mn-ea"/>
                          <a:cs typeface="+mn-cs"/>
                        </a:rPr>
                        <a:t>A fixed workflow, allowing subclasses to add, customise or replace individual steps.</a:t>
                      </a:r>
                    </a:p>
                  </a:txBody>
                  <a:tcPr marL="9525" marR="9525" marT="9525" marB="0" anchor="ctr"/>
                </a:tc>
                <a:extLst>
                  <a:ext uri="{0D108BD9-81ED-4DB2-BD59-A6C34878D82A}">
                    <a16:rowId xmlns:a16="http://schemas.microsoft.com/office/drawing/2014/main" val="2629505220"/>
                  </a:ext>
                </a:extLst>
              </a:tr>
            </a:tbl>
          </a:graphicData>
        </a:graphic>
      </p:graphicFrame>
    </p:spTree>
    <p:extLst>
      <p:ext uri="{BB962C8B-B14F-4D97-AF65-F5344CB8AC3E}">
        <p14:creationId xmlns:p14="http://schemas.microsoft.com/office/powerpoint/2010/main" val="2061273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1894ADE-7CA7-B887-0ED8-11A216305610}"/>
              </a:ext>
            </a:extLst>
          </p:cNvPr>
          <p:cNvSpPr>
            <a:spLocks noGrp="1"/>
          </p:cNvSpPr>
          <p:nvPr>
            <p:ph type="title"/>
          </p:nvPr>
        </p:nvSpPr>
        <p:spPr>
          <a:xfrm>
            <a:off x="1038031" y="1068169"/>
            <a:ext cx="10115939" cy="897791"/>
          </a:xfrm>
        </p:spPr>
        <p:txBody>
          <a:bodyPr/>
          <a:lstStyle/>
          <a:p>
            <a:r>
              <a:rPr lang="en-GB" dirty="0"/>
              <a:t>Takeaway</a:t>
            </a:r>
          </a:p>
        </p:txBody>
      </p:sp>
      <p:sp>
        <p:nvSpPr>
          <p:cNvPr id="8" name="Text Placeholder 7">
            <a:extLst>
              <a:ext uri="{FF2B5EF4-FFF2-40B4-BE49-F238E27FC236}">
                <a16:creationId xmlns:a16="http://schemas.microsoft.com/office/drawing/2014/main" id="{CA4EC703-C631-4576-E112-20B543A55BD0}"/>
              </a:ext>
            </a:extLst>
          </p:cNvPr>
          <p:cNvSpPr>
            <a:spLocks noGrp="1"/>
          </p:cNvSpPr>
          <p:nvPr>
            <p:ph type="body" sz="quarter" idx="12"/>
          </p:nvPr>
        </p:nvSpPr>
        <p:spPr>
          <a:xfrm>
            <a:off x="1038031" y="2249424"/>
            <a:ext cx="10115939" cy="3540407"/>
          </a:xfrm>
        </p:spPr>
        <p:txBody>
          <a:bodyPr/>
          <a:lstStyle/>
          <a:p>
            <a:r>
              <a:rPr lang="en-GB" dirty="0"/>
              <a:t>Through my professional career, I have developed smaller modules or scripts which I’ve imagined could eventually become closer to an application. The understanding I’ve taken from these units of the course has helped me recognise blockers in my previous ways of working, while seeing how choosing the most appropriate pattern could have allowed an easier route to expansion. </a:t>
            </a:r>
            <a:br>
              <a:rPr lang="en-GB" dirty="0"/>
            </a:br>
            <a:br>
              <a:rPr lang="en-GB" dirty="0"/>
            </a:br>
            <a:r>
              <a:rPr lang="en-GB" dirty="0"/>
              <a:t>I almost immediately began creating a set of reusable modules for my day-to-day tasks. These have been created with future expansion in mind, with the aim of developing a migration tool which will ease the process for junior engineers and remove laborious and repetitive tasks for all members of the team.</a:t>
            </a:r>
          </a:p>
        </p:txBody>
      </p:sp>
      <p:sp>
        <p:nvSpPr>
          <p:cNvPr id="4" name="Slide Number Placeholder 3">
            <a:extLst>
              <a:ext uri="{FF2B5EF4-FFF2-40B4-BE49-F238E27FC236}">
                <a16:creationId xmlns:a16="http://schemas.microsoft.com/office/drawing/2014/main" id="{B293C0CA-9D69-72AB-D5F5-A5253A62A979}"/>
              </a:ext>
            </a:extLst>
          </p:cNvPr>
          <p:cNvSpPr>
            <a:spLocks noGrp="1"/>
          </p:cNvSpPr>
          <p:nvPr>
            <p:ph type="sldNum" sz="quarter" idx="4294967295"/>
          </p:nvPr>
        </p:nvSpPr>
        <p:spPr>
          <a:xfrm>
            <a:off x="0" y="5943600"/>
            <a:ext cx="968375" cy="652463"/>
          </a:xfrm>
        </p:spPr>
        <p:txBody>
          <a:bodyPr/>
          <a:lstStyle/>
          <a:p>
            <a:fld id="{18D65601-5AE2-46FC-B138-694DDD2B510D}" type="slidenum">
              <a:rPr lang="en-US" smtClean="0"/>
              <a:pPr/>
              <a:t>6</a:t>
            </a:fld>
            <a:endParaRPr lang="en-US" dirty="0"/>
          </a:p>
        </p:txBody>
      </p:sp>
    </p:spTree>
    <p:extLst>
      <p:ext uri="{BB962C8B-B14F-4D97-AF65-F5344CB8AC3E}">
        <p14:creationId xmlns:p14="http://schemas.microsoft.com/office/powerpoint/2010/main" val="3959280595"/>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{60C56C79-BA58-4EE0-A681-D2632E1440B5}TF3977e381-cba5-49b1-ba43-b5d865517af907ebbda9_win32-372d4d6ae720</Template>
  <TotalTime>278</TotalTime>
  <Words>664</Words>
  <Application>Microsoft Office PowerPoint</Application>
  <PresentationFormat>Widescreen</PresentationFormat>
  <Paragraphs>78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Tisa Offc Serif Pro</vt:lpstr>
      <vt:lpstr>Univers Light</vt:lpstr>
      <vt:lpstr>Custom</vt:lpstr>
      <vt:lpstr>Units 3-5  Design Patterns</vt:lpstr>
      <vt:lpstr>Design Patterns</vt:lpstr>
      <vt:lpstr>Creational Patterns</vt:lpstr>
      <vt:lpstr>Structural Patterns</vt:lpstr>
      <vt:lpstr>Behavioural Patterns</vt:lpstr>
      <vt:lpstr>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Williams</dc:creator>
  <cp:lastModifiedBy>Phil Williams</cp:lastModifiedBy>
  <cp:revision>5</cp:revision>
  <dcterms:created xsi:type="dcterms:W3CDTF">2026-07-13T15:01:53Z</dcterms:created>
  <dcterms:modified xsi:type="dcterms:W3CDTF">2026-07-14T16:16:50Z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