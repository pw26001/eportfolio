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322" r:id="rId5"/>
    <p:sldId id="321" r:id="rId6"/>
    <p:sldId id="31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6354201" cy="5253089"/>
          </a:xfrm>
        </p:spPr>
        <p:txBody>
          <a:bodyPr/>
          <a:lstStyle/>
          <a:p>
            <a:r>
              <a:rPr lang="en-US" dirty="0"/>
              <a:t>Unit 2 </a:t>
            </a:r>
            <a:br>
              <a:rPr lang="en-US" dirty="0"/>
            </a:br>
            <a:r>
              <a:rPr lang="en-US" dirty="0"/>
              <a:t>SOLID Principles</a:t>
            </a: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4640418" cy="5407091"/>
          </a:xfrm>
        </p:spPr>
        <p:txBody>
          <a:bodyPr/>
          <a:lstStyle/>
          <a:p>
            <a:r>
              <a:rPr lang="en-US" dirty="0"/>
              <a:t>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88461" y="737115"/>
            <a:ext cx="4449712" cy="5407091"/>
          </a:xfrm>
        </p:spPr>
        <p:txBody>
          <a:bodyPr/>
          <a:lstStyle/>
          <a:p>
            <a:r>
              <a:rPr lang="en-GB" dirty="0"/>
              <a:t>Single Responsibility Principle (SRP)</a:t>
            </a:r>
            <a:endParaRPr lang="en-US" dirty="0"/>
          </a:p>
          <a:p>
            <a:r>
              <a:rPr lang="en-GB" dirty="0"/>
              <a:t>Open/Closed Principle (OCP)</a:t>
            </a:r>
          </a:p>
          <a:p>
            <a:r>
              <a:rPr lang="en-GB" dirty="0" err="1"/>
              <a:t>Liskov</a:t>
            </a:r>
            <a:r>
              <a:rPr lang="en-GB" dirty="0"/>
              <a:t> Substitution Principle (LSP)</a:t>
            </a:r>
            <a:endParaRPr lang="en-US" dirty="0"/>
          </a:p>
          <a:p>
            <a:r>
              <a:rPr lang="en-GB" dirty="0"/>
              <a:t>Interface Segregation Principle (ISP)</a:t>
            </a:r>
          </a:p>
          <a:p>
            <a:r>
              <a:rPr lang="en-GB" dirty="0"/>
              <a:t>Dependency Inversion Principle (DIP)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E406C2F-157B-F226-7198-8D0F44C31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381497"/>
              </p:ext>
            </p:extLst>
          </p:nvPr>
        </p:nvGraphicFramePr>
        <p:xfrm>
          <a:off x="1071372" y="304360"/>
          <a:ext cx="10049256" cy="6291153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206244">
                  <a:extLst>
                    <a:ext uri="{9D8B030D-6E8A-4147-A177-3AD203B41FA5}">
                      <a16:colId xmlns:a16="http://schemas.microsoft.com/office/drawing/2014/main" val="175633007"/>
                    </a:ext>
                  </a:extLst>
                </a:gridCol>
                <a:gridCol w="2886665">
                  <a:extLst>
                    <a:ext uri="{9D8B030D-6E8A-4147-A177-3AD203B41FA5}">
                      <a16:colId xmlns:a16="http://schemas.microsoft.com/office/drawing/2014/main" val="1273777779"/>
                    </a:ext>
                  </a:extLst>
                </a:gridCol>
                <a:gridCol w="5956347">
                  <a:extLst>
                    <a:ext uri="{9D8B030D-6E8A-4147-A177-3AD203B41FA5}">
                      <a16:colId xmlns:a16="http://schemas.microsoft.com/office/drawing/2014/main" val="131598680"/>
                    </a:ext>
                  </a:extLst>
                </a:gridCol>
              </a:tblGrid>
              <a:tr h="590297">
                <a:tc>
                  <a:txBody>
                    <a:bodyPr/>
                    <a:lstStyle/>
                    <a:p>
                      <a:r>
                        <a:rPr lang="en-GB" dirty="0"/>
                        <a:t>Principle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Understanding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203525"/>
                  </a:ext>
                </a:extLst>
              </a:tr>
              <a:tr h="1018870">
                <a:tc>
                  <a:txBody>
                    <a:bodyPr/>
                    <a:lstStyle/>
                    <a:p>
                      <a:r>
                        <a:rPr lang="en-GB" dirty="0"/>
                        <a:t>SRP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class should have only one reason to change.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Each function should contain only one action/method call so it is easier to debug - teams can work on portions independently.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76194"/>
                  </a:ext>
                </a:extLst>
              </a:tr>
              <a:tr h="1018870">
                <a:tc>
                  <a:txBody>
                    <a:bodyPr/>
                    <a:lstStyle/>
                    <a:p>
                      <a:r>
                        <a:rPr lang="en-GB" dirty="0"/>
                        <a:t>OCP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Software entities should be open for extension but closed for modification.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Expand to add functionality, but the root source is not edited.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17703"/>
                  </a:ext>
                </a:extLst>
              </a:tr>
              <a:tr h="1018870">
                <a:tc>
                  <a:txBody>
                    <a:bodyPr/>
                    <a:lstStyle/>
                    <a:p>
                      <a:r>
                        <a:rPr lang="en-GB" dirty="0"/>
                        <a:t>LSP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Subtypes must be substitutable for their base types.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Subclasses can extend the parent but must still behave within the parameters of the parent.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134326"/>
                  </a:ext>
                </a:extLst>
              </a:tr>
              <a:tr h="1161208">
                <a:tc>
                  <a:txBody>
                    <a:bodyPr/>
                    <a:lstStyle/>
                    <a:p>
                      <a:r>
                        <a:rPr lang="en-GB" dirty="0"/>
                        <a:t>ISP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Clients should not be forced to depend on interfaces they do not use.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Don't force round pegs into square holes just to be allowed to use a method. Potential to cause bloat/failures.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756841"/>
                  </a:ext>
                </a:extLst>
              </a:tr>
              <a:tr h="1455526">
                <a:tc>
                  <a:txBody>
                    <a:bodyPr/>
                    <a:lstStyle/>
                    <a:p>
                      <a:r>
                        <a:rPr lang="en-GB" dirty="0"/>
                        <a:t>DIP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High-level modules should not depend on low-level modules; both should depend on abstractions.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Keep things open at a higher level - allows new functionality to be utilised later - does not force a rewrite of multiple levels to allow that.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85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{60C56C79-BA58-4EE0-A681-D2632E1440B5}TF3977e381-cba5-49b1-ba43-b5d865517af907ebbda9_win32-372d4d6ae720</Template>
  <TotalTime>9</TotalTime>
  <Words>211</Words>
  <Application>Microsoft Office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Tisa Offc Serif Pro</vt:lpstr>
      <vt:lpstr>Univers Light</vt:lpstr>
      <vt:lpstr>Custom</vt:lpstr>
      <vt:lpstr>Unit 2  SOLID Principles</vt:lpstr>
      <vt:lpstr>Principles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 Williams</dc:creator>
  <cp:lastModifiedBy>Phil Williams</cp:lastModifiedBy>
  <cp:revision>3</cp:revision>
  <dcterms:created xsi:type="dcterms:W3CDTF">2026-07-13T15:01:53Z</dcterms:created>
  <dcterms:modified xsi:type="dcterms:W3CDTF">2026-07-13T15:11:25Z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