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22" r:id="rId5"/>
    <p:sldId id="323" r:id="rId6"/>
    <p:sldId id="327" r:id="rId7"/>
    <p:sldId id="32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8009265" cy="5253089"/>
          </a:xfrm>
        </p:spPr>
        <p:txBody>
          <a:bodyPr/>
          <a:lstStyle/>
          <a:p>
            <a:r>
              <a:rPr lang="en-US" dirty="0"/>
              <a:t>Unit 9 </a:t>
            </a:r>
            <a:br>
              <a:rPr lang="en-US" dirty="0"/>
            </a:br>
            <a:r>
              <a:rPr lang="en-GB" dirty="0"/>
              <a:t>Object-Oriented Software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1D6AE-ED72-956C-0E1C-41FCFAD5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B9D07-1F33-0ADF-2905-196B93C6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165" y="450408"/>
            <a:ext cx="9229665" cy="611716"/>
          </a:xfrm>
        </p:spPr>
        <p:txBody>
          <a:bodyPr/>
          <a:lstStyle/>
          <a:p>
            <a:r>
              <a:rPr lang="en-GB" dirty="0"/>
              <a:t>Architectural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72D0D-57FE-E5E3-5662-98E5BCE24C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DE950C-CECA-27AD-FD2C-93BC5CBB3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49117"/>
              </p:ext>
            </p:extLst>
          </p:nvPr>
        </p:nvGraphicFramePr>
        <p:xfrm>
          <a:off x="1094992" y="1408178"/>
          <a:ext cx="10002013" cy="453542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507237">
                  <a:extLst>
                    <a:ext uri="{9D8B030D-6E8A-4147-A177-3AD203B41FA5}">
                      <a16:colId xmlns:a16="http://schemas.microsoft.com/office/drawing/2014/main" val="175633007"/>
                    </a:ext>
                  </a:extLst>
                </a:gridCol>
                <a:gridCol w="2566430">
                  <a:extLst>
                    <a:ext uri="{9D8B030D-6E8A-4147-A177-3AD203B41FA5}">
                      <a16:colId xmlns:a16="http://schemas.microsoft.com/office/drawing/2014/main" val="1273777779"/>
                    </a:ext>
                  </a:extLst>
                </a:gridCol>
                <a:gridCol w="5928346">
                  <a:extLst>
                    <a:ext uri="{9D8B030D-6E8A-4147-A177-3AD203B41FA5}">
                      <a16:colId xmlns:a16="http://schemas.microsoft.com/office/drawing/2014/main" val="131598680"/>
                    </a:ext>
                  </a:extLst>
                </a:gridCol>
              </a:tblGrid>
              <a:tr h="651312">
                <a:tc>
                  <a:txBody>
                    <a:bodyPr/>
                    <a:lstStyle/>
                    <a:p>
                      <a:r>
                        <a:rPr lang="en-GB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203525"/>
                  </a:ext>
                </a:extLst>
              </a:tr>
              <a:tr h="1185822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Monolithic</a:t>
                      </a:r>
                      <a:r>
                        <a:rPr lang="en-GB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A system built and deployed as one unit.</a:t>
                      </a:r>
                      <a:endParaRPr lang="en-GB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An “all in one”. Efficient and simple to begin with, but harder to scale, maintain and isolate when something fails.</a:t>
                      </a:r>
                      <a:endParaRPr lang="en-GB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4976194"/>
                  </a:ext>
                </a:extLst>
              </a:tr>
              <a:tr h="1488712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Microservices</a:t>
                      </a:r>
                      <a:endParaRPr lang="en-GB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A system divided into independently deployable services.</a:t>
                      </a:r>
                      <a:endParaRPr lang="en-GB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Closer to an organogram. Each service owns an area, but communication between them must be reliable and secure.</a:t>
                      </a:r>
                      <a:endParaRPr lang="en-GB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617703"/>
                  </a:ext>
                </a:extLst>
              </a:tr>
              <a:tr h="1209577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Layered</a:t>
                      </a:r>
                      <a:r>
                        <a:rPr lang="en-GB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A system divided into layers with separate responsibilities.</a:t>
                      </a:r>
                      <a:endParaRPr lang="en-GB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GB" sz="1400" dirty="0"/>
                        <a:t>Each layer deals with its own area and normally communicates through the neighbouring layer.</a:t>
                      </a:r>
                      <a:endParaRPr lang="en-GB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9134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698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84E470F-A524-C384-E9F2-8ECDFA5BF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5" y="395076"/>
            <a:ext cx="10113263" cy="1639464"/>
          </a:xfrm>
        </p:spPr>
        <p:txBody>
          <a:bodyPr/>
          <a:lstStyle/>
          <a:p>
            <a:r>
              <a:rPr lang="en-GB" dirty="0"/>
              <a:t>Strengths and Drawbacks of Architectural Approaches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E35329-9FDB-2447-2AD3-EE737188874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88136" y="2167128"/>
            <a:ext cx="10113263" cy="1170432"/>
          </a:xfrm>
        </p:spPr>
        <p:txBody>
          <a:bodyPr>
            <a:normAutofit lnSpcReduction="10000"/>
          </a:bodyPr>
          <a:lstStyle/>
          <a:p>
            <a:r>
              <a:rPr lang="en-GB" sz="1400" dirty="0"/>
              <a:t>Monolithic </a:t>
            </a:r>
            <a:br>
              <a:rPr lang="en-GB" sz="1400" dirty="0"/>
            </a:br>
            <a:r>
              <a:rPr lang="en-GB" sz="1400" dirty="0"/>
              <a:t>+ Everything is kept together, making it simpler to develop and deploy initially. </a:t>
            </a:r>
            <a:br>
              <a:rPr lang="en-GB" sz="1400" dirty="0"/>
            </a:br>
            <a:r>
              <a:rPr lang="en-GB" sz="1400" dirty="0"/>
              <a:t>+ This can allow a quicker route to a working system. </a:t>
            </a:r>
            <a:br>
              <a:rPr lang="en-GB" sz="1400" dirty="0"/>
            </a:br>
            <a:r>
              <a:rPr lang="en-GB" sz="1400" dirty="0"/>
              <a:t>- As the system grows, the same structure can make it harder to maintain and scale. </a:t>
            </a:r>
            <a:br>
              <a:rPr lang="en-GB" sz="1400" dirty="0"/>
            </a:br>
            <a:r>
              <a:rPr lang="en-GB" sz="1400" dirty="0"/>
              <a:t>- A failure within the application may affect the whole system.</a:t>
            </a:r>
          </a:p>
          <a:p>
            <a:endParaRPr lang="en-GB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48A8A-1CE3-3C89-1B82-3CF66634DA1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6E1C55B2-064B-FFBD-F9EA-5C6B94ED3556}"/>
              </a:ext>
            </a:extLst>
          </p:cNvPr>
          <p:cNvSpPr txBox="1">
            <a:spLocks/>
          </p:cNvSpPr>
          <p:nvPr/>
        </p:nvSpPr>
        <p:spPr>
          <a:xfrm>
            <a:off x="1088135" y="3337560"/>
            <a:ext cx="10113263" cy="1170432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Microservices </a:t>
            </a:r>
            <a:br>
              <a:rPr lang="en-GB" sz="1400" dirty="0"/>
            </a:br>
            <a:r>
              <a:rPr lang="en-GB" sz="1400" dirty="0"/>
              <a:t>+ Individual services can be developed, deployed and scaled separately. </a:t>
            </a:r>
            <a:br>
              <a:rPr lang="en-GB" sz="1400" dirty="0"/>
            </a:br>
            <a:r>
              <a:rPr lang="en-GB" sz="1400" dirty="0"/>
              <a:t>+ A failure may be contained within one service rather than affecting the entire system. </a:t>
            </a:r>
            <a:br>
              <a:rPr lang="en-GB" sz="1400" dirty="0"/>
            </a:br>
            <a:r>
              <a:rPr lang="en-GB" sz="1400" dirty="0"/>
              <a:t>- Communication between services adds complexity and must be reliable and secure. </a:t>
            </a:r>
            <a:br>
              <a:rPr lang="en-GB" sz="1400" dirty="0"/>
            </a:br>
            <a:r>
              <a:rPr lang="en-GB" sz="1400" dirty="0"/>
              <a:t>- Additional infrastructure, testing and monitoring are required.</a:t>
            </a:r>
          </a:p>
          <a:p>
            <a:endParaRPr lang="en-GB" sz="1400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940604CD-A1FC-4921-366D-F3B7566B5642}"/>
              </a:ext>
            </a:extLst>
          </p:cNvPr>
          <p:cNvSpPr txBox="1">
            <a:spLocks/>
          </p:cNvSpPr>
          <p:nvPr/>
        </p:nvSpPr>
        <p:spPr>
          <a:xfrm>
            <a:off x="1088135" y="4507992"/>
            <a:ext cx="10113263" cy="117043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Layered </a:t>
            </a:r>
            <a:br>
              <a:rPr lang="en-GB" sz="1400" dirty="0"/>
            </a:br>
            <a:r>
              <a:rPr lang="en-GB" sz="1400" dirty="0"/>
              <a:t>+ Responsibilities are separated into clearly defined areas. </a:t>
            </a:r>
            <a:br>
              <a:rPr lang="en-GB" sz="1400" dirty="0"/>
            </a:br>
            <a:r>
              <a:rPr lang="en-GB" sz="1400" dirty="0"/>
              <a:t>+ Changes can be made within one layer without unnecessarily affecting the rest of the system. </a:t>
            </a:r>
            <a:br>
              <a:rPr lang="en-GB" sz="1400" dirty="0"/>
            </a:br>
            <a:r>
              <a:rPr lang="en-GB" sz="1400" dirty="0"/>
              <a:t>- The extra structure may add complexity where the system is small and does not require it.</a:t>
            </a:r>
          </a:p>
        </p:txBody>
      </p:sp>
    </p:spTree>
    <p:extLst>
      <p:ext uri="{BB962C8B-B14F-4D97-AF65-F5344CB8AC3E}">
        <p14:creationId xmlns:p14="http://schemas.microsoft.com/office/powerpoint/2010/main" val="113816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894ADE-7CA7-B887-0ED8-11A21630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0" y="976729"/>
            <a:ext cx="10115939" cy="897791"/>
          </a:xfrm>
        </p:spPr>
        <p:txBody>
          <a:bodyPr/>
          <a:lstStyle/>
          <a:p>
            <a:r>
              <a:rPr lang="en-GB" dirty="0"/>
              <a:t>Takeaway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EC703-C631-4576-E112-20B543A55B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8030" y="2066544"/>
            <a:ext cx="10115939" cy="3540407"/>
          </a:xfrm>
        </p:spPr>
        <p:txBody>
          <a:bodyPr/>
          <a:lstStyle/>
          <a:p>
            <a:r>
              <a:rPr lang="en-GB" dirty="0"/>
              <a:t>The key takeaway for me was that architecture is a design decision based on scale, security, maintainability and the needs of the organisation, rather than a hierarchy where one approach is always better.</a:t>
            </a:r>
          </a:p>
          <a:p>
            <a:endParaRPr lang="en-GB" dirty="0"/>
          </a:p>
          <a:p>
            <a:r>
              <a:rPr lang="en-GB" dirty="0"/>
              <a:t>The subject did not feel as unfamiliar as some earlier units. I already work with systems made up of applications, services, endpoints and deployment processes, and so could relate some of the issues described to scenarios I have experienced.</a:t>
            </a:r>
          </a:p>
          <a:p>
            <a:endParaRPr lang="en-GB" dirty="0"/>
          </a:p>
          <a:p>
            <a:r>
              <a:rPr lang="en-GB" dirty="0"/>
              <a:t>The reading gave terminology and structure to those experiences. I felt most engaged when it challenged the assumption that microservices are automatically an improvement. I can clearly picture the microservices approach being pushed aggressively, whereas a small monolith may be the correct choice, preventing unnecessary complexity from being introduced long before there is any proven need.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3C0CA-9D69-72AB-D5F5-A5253A62A9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5943600"/>
            <a:ext cx="968375" cy="652463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28059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{60C56C79-BA58-4EE0-A681-D2632E1440B5}TF3977e381-cba5-49b1-ba43-b5d865517af907ebbda9_win32-372d4d6ae720</Template>
  <TotalTime>292</TotalTime>
  <Words>419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Tisa Offc Serif Pro</vt:lpstr>
      <vt:lpstr>Univers Light</vt:lpstr>
      <vt:lpstr>Custom</vt:lpstr>
      <vt:lpstr>Unit 9  Object-Oriented Software Architecture</vt:lpstr>
      <vt:lpstr>Architectural Styles</vt:lpstr>
      <vt:lpstr>Strengths and Drawbacks of Architectural Approaches</vt:lpstr>
      <vt:lpstr>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Williams</dc:creator>
  <cp:lastModifiedBy>Phil Williams</cp:lastModifiedBy>
  <cp:revision>6</cp:revision>
  <dcterms:created xsi:type="dcterms:W3CDTF">2026-07-13T15:01:53Z</dcterms:created>
  <dcterms:modified xsi:type="dcterms:W3CDTF">2026-07-15T14:58:19Z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